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5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424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1F2D3D"/>
                </a:solidFill>
              </a:defRPr>
            </a:pPr>
            <a:r>
              <a:t>Análise da Composição</a:t>
            </a:r>
            <a:br/>
            <a:r>
              <a:t>Nutricional dos Alimentos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2542032"/>
            <a:ext cx="1828800" cy="45720"/>
          </a:xfrm>
          <a:prstGeom prst="rect">
            <a:avLst/>
          </a:prstGeom>
          <a:solidFill>
            <a:srgbClr val="2D5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76148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5F7D"/>
                </a:solidFill>
              </a:defRPr>
            </a:pPr>
            <a:r>
              <a:t>Estatística aplicada à ciência dos alimentos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520440"/>
            <a:ext cx="7132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6E78"/>
                </a:solidFill>
              </a:defRPr>
            </a:pPr>
            <a:r>
              <a:t>Professor</a:t>
            </a:r>
          </a:p>
          <a:p>
            <a:pPr>
              <a:spcAft>
                <a:spcPts val="1200"/>
              </a:spcAft>
              <a:defRPr sz="1600" b="1">
                <a:solidFill>
                  <a:srgbClr val="1F2D3D"/>
                </a:solidFill>
              </a:defRPr>
            </a:pPr>
            <a:r>
              <a:t>Dr. Cristian Marcelo Villegas Lobos</a:t>
            </a:r>
          </a:p>
          <a:p>
            <a:pPr>
              <a:defRPr sz="1200" b="1">
                <a:solidFill>
                  <a:srgbClr val="646E78"/>
                </a:solidFill>
              </a:defRPr>
            </a:pPr>
            <a:r>
              <a:t>Apresentadores</a:t>
            </a:r>
          </a:p>
          <a:p>
            <a:pPr>
              <a:defRPr sz="1500">
                <a:solidFill>
                  <a:srgbClr val="1F2D3D"/>
                </a:solidFill>
              </a:defRPr>
            </a:pPr>
            <a:r>
              <a:t>Karin Santos  •  Larissa Taffarel  •  Laura Damasio</a:t>
            </a:r>
          </a:p>
        </p:txBody>
      </p:sp>
      <p:sp>
        <p:nvSpPr>
          <p:cNvPr id="7" name="Oval 6"/>
          <p:cNvSpPr/>
          <p:nvPr/>
        </p:nvSpPr>
        <p:spPr>
          <a:xfrm>
            <a:off x="9235440" y="1143000"/>
            <a:ext cx="822960" cy="822960"/>
          </a:xfrm>
          <a:prstGeom prst="ellipse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29800" y="1874519"/>
            <a:ext cx="502920" cy="502920"/>
          </a:xfrm>
          <a:prstGeom prst="ellipse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15400" y="2148840"/>
            <a:ext cx="1097280" cy="1097280"/>
          </a:xfrm>
          <a:prstGeom prst="ellipse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57424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E78"/>
                </a:solidFill>
              </a:defRPr>
            </a:pPr>
            <a:r>
              <a:t>Seminário • Análise de dados nutricionais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 e 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459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rPr lang="pt-BR" dirty="0" smtClean="0"/>
              <a:t>Tema</a:t>
            </a:r>
            <a:r>
              <a:rPr lang="pt-BR" dirty="0"/>
              <a:t>: Analisar descritivamente a composição nutricional dos alimentos presentes na </a:t>
            </a:r>
            <a:r>
              <a:rPr lang="pt-BR" dirty="0" smtClean="0"/>
              <a:t>TACO e </a:t>
            </a:r>
            <a:r>
              <a:rPr lang="pt-BR" dirty="0"/>
              <a:t>investigar a relação entre o teor de lipídeos, proteína, e o valor energético dos alimentos</a:t>
            </a:r>
            <a:r>
              <a:rPr lang="pt-BR" dirty="0" smtClean="0"/>
              <a:t>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/>
              <a:t>Dados: 597 </a:t>
            </a:r>
            <a:r>
              <a:rPr dirty="0" err="1"/>
              <a:t>alimentos</a:t>
            </a:r>
            <a:r>
              <a:rPr dirty="0"/>
              <a:t> da base </a:t>
            </a:r>
            <a:r>
              <a:rPr dirty="0" err="1"/>
              <a:t>utilizada</a:t>
            </a:r>
            <a:r>
              <a:rPr dirty="0"/>
              <a:t> no </a:t>
            </a:r>
            <a:r>
              <a:rPr dirty="0" err="1"/>
              <a:t>projeto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/>
            </a:pP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: </a:t>
            </a:r>
            <a:r>
              <a:rPr dirty="0" err="1"/>
              <a:t>categoria</a:t>
            </a:r>
            <a:r>
              <a:rPr dirty="0"/>
              <a:t>, </a:t>
            </a:r>
            <a:r>
              <a:rPr dirty="0" err="1"/>
              <a:t>energia</a:t>
            </a:r>
            <a:r>
              <a:rPr dirty="0"/>
              <a:t> (kcal/100 g) e </a:t>
            </a:r>
            <a:r>
              <a:rPr dirty="0" err="1"/>
              <a:t>lipídeos</a:t>
            </a:r>
            <a:r>
              <a:rPr dirty="0"/>
              <a:t> (g/100 g).</a:t>
            </a:r>
          </a:p>
          <a:p>
            <a:pPr>
              <a:spcAft>
                <a:spcPts val="1200"/>
              </a:spcAft>
              <a:defRPr sz="1800"/>
            </a:pP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usados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 para </a:t>
            </a:r>
            <a:r>
              <a:rPr dirty="0" err="1"/>
              <a:t>observar</a:t>
            </a:r>
            <a:r>
              <a:rPr dirty="0"/>
              <a:t> </a:t>
            </a:r>
            <a:r>
              <a:rPr dirty="0" err="1"/>
              <a:t>distribuição</a:t>
            </a:r>
            <a:r>
              <a:rPr dirty="0"/>
              <a:t>, </a:t>
            </a:r>
            <a:r>
              <a:rPr dirty="0" err="1"/>
              <a:t>variabilidade</a:t>
            </a:r>
            <a:r>
              <a:rPr dirty="0"/>
              <a:t> e </a:t>
            </a:r>
            <a:r>
              <a:rPr dirty="0" err="1"/>
              <a:t>associação</a:t>
            </a:r>
            <a:r>
              <a:rPr dirty="0"/>
              <a:t> entre as </a:t>
            </a:r>
            <a:r>
              <a:rPr dirty="0" err="1"/>
              <a:t>variáveis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800"/>
            </a:pPr>
            <a:r>
              <a:rPr dirty="0" err="1"/>
              <a:t>Resultado</a:t>
            </a:r>
            <a:r>
              <a:rPr dirty="0"/>
              <a:t> central: </a:t>
            </a:r>
            <a:r>
              <a:rPr dirty="0" err="1"/>
              <a:t>correlação</a:t>
            </a:r>
            <a:r>
              <a:rPr dirty="0"/>
              <a:t> de Pearson r = 0.81, </a:t>
            </a:r>
            <a:r>
              <a:rPr dirty="0" err="1"/>
              <a:t>indicando</a:t>
            </a:r>
            <a:r>
              <a:rPr dirty="0"/>
              <a:t> </a:t>
            </a:r>
            <a:r>
              <a:rPr dirty="0" err="1"/>
              <a:t>relação</a:t>
            </a:r>
            <a:r>
              <a:rPr dirty="0"/>
              <a:t> linear </a:t>
            </a:r>
            <a:r>
              <a:rPr dirty="0" err="1"/>
              <a:t>positiva</a:t>
            </a:r>
            <a:r>
              <a:rPr dirty="0"/>
              <a:t> forte.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</a:defRPr>
            </a:pPr>
            <a:r>
              <a:t>Dados utilizados e base TACO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O que entrou na análise e por que esses dados são importantes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8920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5F7D"/>
                </a:solidFill>
              </a:defRPr>
            </a:pPr>
            <a:r>
              <a:t>Base de dados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Foram analisados 597 alimentos da base TACO utilizada no projeto.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A tabela possui 29 colunas, reunindo informações de composição nutricional e categoria.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As principais variáveis do seminário são categoria, energia (kcal/100 g), lipídeos (g/100 g) e proteína (g/100 g).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Nem todas as variáveis possuem valores para os 597 alimentos; por isso, cada análise usa apenas os registros válidos para as variáveis envolvidas.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325880"/>
            <a:ext cx="4572000" cy="3566160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700" b="1">
                <a:solidFill>
                  <a:srgbClr val="2D5F7D"/>
                </a:solidFill>
              </a:defRPr>
            </a:pPr>
            <a:r>
              <a:t>Como interpretar “TACO” neste seminário</a:t>
            </a:r>
          </a:p>
          <a:p>
            <a:pPr>
              <a:spcAft>
                <a:spcPts val="900"/>
              </a:spcAft>
              <a:defRPr sz="1300">
                <a:solidFill>
                  <a:srgbClr val="374151"/>
                </a:solidFill>
              </a:defRPr>
            </a:pPr>
            <a:r>
              <a:t>É a base de composição nutricional usada como fonte dos dados do projeto.</a:t>
            </a:r>
          </a:p>
          <a:p>
            <a:pPr>
              <a:spcAft>
                <a:spcPts val="900"/>
              </a:spcAft>
              <a:defRPr sz="1300">
                <a:solidFill>
                  <a:srgbClr val="374151"/>
                </a:solidFill>
              </a:defRPr>
            </a:pPr>
            <a:r>
              <a:t>Cada alimento é uma observação, e seus nutrientes/energia são as variáveis analisadas.</a:t>
            </a:r>
          </a:p>
          <a:p>
            <a:pPr>
              <a:spcAft>
                <a:spcPts val="900"/>
              </a:spcAft>
              <a:defRPr sz="1300">
                <a:solidFill>
                  <a:srgbClr val="374151"/>
                </a:solidFill>
              </a:defRPr>
            </a:pPr>
            <a:r>
              <a:t>A base permite comparar a composição dos alimentos e investigar relações entre nutrientes e valor energético.</a:t>
            </a:r>
          </a:p>
          <a:p>
            <a:pPr>
              <a:spcAft>
                <a:spcPts val="900"/>
              </a:spcAft>
              <a:defRPr sz="1300">
                <a:solidFill>
                  <a:srgbClr val="374151"/>
                </a:solidFill>
              </a:defRPr>
            </a:pPr>
            <a:r>
              <a:t>Os gráficos seguintes foram produzidos a partir desses registros.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8756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Fonte: base TACO utilizada no projeto • dados e análises do seminário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Gráfico 1 — Distribuição por categoria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Quantos alimentos existem em cada grupo da base?</a:t>
            </a:r>
          </a:p>
        </p:txBody>
      </p:sp>
      <p:pic>
        <p:nvPicPr>
          <p:cNvPr id="4" name="Picture 3" descr="01_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315200" cy="4364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41732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 gráfico de barras compara diretamente a frequência de cada categoria.</a:t>
            </a:r>
          </a:p>
          <a:p>
            <a:pPr>
              <a:spcAft>
                <a:spcPts val="1200"/>
              </a:spcAft>
              <a:defRPr sz="1800"/>
            </a:pPr>
            <a:r>
              <a:t>Carnes e derivados é a categoria mais numerosa, com 123 alimentos.</a:t>
            </a:r>
          </a:p>
          <a:p>
            <a:pPr>
              <a:spcAft>
                <a:spcPts val="1200"/>
              </a:spcAft>
              <a:defRPr sz="1800"/>
            </a:pPr>
            <a:r>
              <a:t>Verduras, hortaliças e derivados aparecem em seguida, com 99.</a:t>
            </a:r>
          </a:p>
          <a:p>
            <a:pPr>
              <a:spcAft>
                <a:spcPts val="1200"/>
              </a:spcAft>
              <a:defRPr sz="1800"/>
            </a:pPr>
            <a:r>
              <a:t>A composição da base é importante para interpretar os resultados, pois algumas categorias têm muito mais observações que outras.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Gráfico 2 — Distribuição da 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Como os valores de kcal/100 g estão espalhados entre os alimentos?</a:t>
            </a:r>
          </a:p>
        </p:txBody>
      </p:sp>
      <p:pic>
        <p:nvPicPr>
          <p:cNvPr id="4" name="Picture 3" descr="02_energia_hist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315200" cy="4360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41732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 histograma agrupa os alimentos em faixas de valor energético.</a:t>
            </a:r>
          </a:p>
          <a:p>
            <a:pPr>
              <a:spcAft>
                <a:spcPts val="1200"/>
              </a:spcAft>
              <a:defRPr sz="1800"/>
            </a:pPr>
            <a:r>
              <a:t>A mediana é de aproximadamente 149.5 kcal/100 g.</a:t>
            </a:r>
          </a:p>
          <a:p>
            <a:pPr>
              <a:spcAft>
                <a:spcPts val="1200"/>
              </a:spcAft>
              <a:defRPr sz="1800"/>
            </a:pPr>
            <a:r>
              <a:t>A média é 197.3 kcal/100 g, acima da mediana, indicando assimetria à direita.</a:t>
            </a:r>
          </a:p>
          <a:p>
            <a:pPr>
              <a:spcAft>
                <a:spcPts val="1200"/>
              </a:spcAft>
              <a:defRPr sz="1800"/>
            </a:pPr>
            <a:r>
              <a:t>Há grande amplitude: de 1.4 até 884 kcal/100 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Gráfico 3 — Distribuição dos lipídeos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Boxplot: mediana, dispersão e valores atípicos</a:t>
            </a:r>
          </a:p>
        </p:txBody>
      </p:sp>
      <p:pic>
        <p:nvPicPr>
          <p:cNvPr id="4" name="Picture 3" descr="03_lipideo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315200" cy="3992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2588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Mediana: 2.33 g/100 g.</a:t>
            </a:r>
          </a:p>
          <a:p>
            <a:pPr>
              <a:spcAft>
                <a:spcPts val="1200"/>
              </a:spcAft>
              <a:defRPr sz="1800"/>
            </a:pPr>
            <a:r>
              <a:t>Q1: 0.21 g/100 g • Q3: 11.96 g/100 g.</a:t>
            </a:r>
          </a:p>
          <a:p>
            <a:pPr>
              <a:spcAft>
                <a:spcPts val="1200"/>
              </a:spcAft>
              <a:defRPr sz="1800"/>
            </a:pPr>
            <a:r>
              <a:t>IQR: 11.75 g/100 g, mostrando a dispersão dos 50% centrais.</a:t>
            </a:r>
          </a:p>
          <a:p>
            <a:pPr>
              <a:spcAft>
                <a:spcPts val="1200"/>
              </a:spcAft>
              <a:defRPr sz="1800"/>
            </a:pPr>
            <a:r>
              <a:t>Foram identificados 39 valores acima do limite superior de 29.58 g/100 g.</a:t>
            </a:r>
          </a:p>
          <a:p>
            <a:pPr>
              <a:spcAft>
                <a:spcPts val="1200"/>
              </a:spcAft>
              <a:defRPr sz="1800"/>
            </a:pPr>
            <a:r>
              <a:t>Os outliers não devem ser tratados automaticamente como erros: podem representar alimentos naturalmente muito ricos em gordura, como óleos, manteigas, sementes e alguns derivados.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Gráfico 4 — Lipídeos × valor energético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O gráfico de dispersão testa diretamente a pergunta principal do projeto</a:t>
            </a:r>
          </a:p>
        </p:txBody>
      </p:sp>
      <p:pic>
        <p:nvPicPr>
          <p:cNvPr id="4" name="Picture 3" descr="04_lipideos_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315200" cy="4357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2588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Cada ponto representa um alimento com dados válidos para as duas variáveis (n = 590).</a:t>
            </a:r>
          </a:p>
          <a:p>
            <a:pPr>
              <a:spcAft>
                <a:spcPts val="1200"/>
              </a:spcAft>
              <a:defRPr sz="1800"/>
            </a:pPr>
            <a:r>
              <a:t>A tendência é claramente positiva: mais lipídeos estão associados a maior valor energético.</a:t>
            </a:r>
          </a:p>
          <a:p>
            <a:pPr>
              <a:spcAft>
                <a:spcPts val="1200"/>
              </a:spcAft>
              <a:defRPr sz="1800"/>
            </a:pPr>
            <a:r>
              <a:t>Correlação de Pearson: r = 0.81.</a:t>
            </a:r>
          </a:p>
          <a:p>
            <a:pPr>
              <a:spcAft>
                <a:spcPts val="1200"/>
              </a:spcAft>
              <a:defRPr sz="1800"/>
            </a:pPr>
            <a:r>
              <a:t>Regressão: para cada +1 g de lipídeos/100 g, o modelo estima cerca de +8.39 kcal/100 g.</a:t>
            </a:r>
          </a:p>
          <a:p>
            <a:pPr>
              <a:spcAft>
                <a:spcPts val="1200"/>
              </a:spcAft>
              <a:defRPr sz="1800"/>
            </a:pPr>
            <a:r>
              <a:t>A correlação é forte, mas não significa que lipídeos sejam a única variável responsável pela energia.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</a:defRPr>
            </a:pPr>
            <a:r>
              <a:t>Gráfico 5 — Lipídeos × proteína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O gráfico avalia se alimentos com mais lipídeos tendem também a apresentar mais proteína</a:t>
            </a:r>
          </a:p>
        </p:txBody>
      </p:sp>
      <p:pic>
        <p:nvPicPr>
          <p:cNvPr id="4" name="Picture 3" descr="grafico_notebook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080760" cy="5016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1234440"/>
            <a:ext cx="3886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5F7D"/>
                </a:solidFill>
              </a:defRPr>
            </a:pPr>
            <a:r>
              <a:t>Como explicar o gráfico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Cada ponto representa um alimento; lipídeos estão no eixo X e proteína no eixo Y.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A linha tracejada de 45° (y = x) é apenas uma referência para comparar os valores das duas variáveis; ela não é a regressão.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Os pontos mostram grande dispersão, embora exista uma tendência positiva.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Correlação de Pearson: r = 0,2799 — associação linear positiva fraca.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Interpretação: quando os lipídeos aumentam, a proteína tende a aumentar um pouco, mas a relação é fraca.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8756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Fonte: base TACO utilizada no projeto • dados e análises do seminário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</a:defRPr>
            </a:pPr>
            <a:r>
              <a:t>Gráfico 6 — Regressão: lipídeos × proteína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A reta resume matematicamente a tendência observada no gráfico de dispersão</a:t>
            </a:r>
          </a:p>
        </p:txBody>
      </p:sp>
      <p:pic>
        <p:nvPicPr>
          <p:cNvPr id="4" name="Picture 3" descr="grafico_notebook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126480" cy="3945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123444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5F7D"/>
                </a:solidFill>
              </a:defRPr>
            </a:pPr>
            <a:r>
              <a:t>Dados e interpretação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A regressão foi calculada somente com os alimentos que tinham valores válidos de lipídeos e proteína.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Inclinação (slope) = 0,2287: a cada +1 g de lipídeos/100 g, a proteína aumenta em média cerca de 0,23 g/100 g no modelo.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Intercepto = 8,3065 g/100 g.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r = 0,2799 e R² ≈ 7,8%: os lipídeos explicam uma parcela pequena da variação da proteína.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Valor-p &lt; 0,001: há evidência estatística de associação, mas a força da relação é baixa.</a:t>
            </a:r>
          </a:p>
          <a:p>
            <a:pPr>
              <a:spcAft>
                <a:spcPts val="800"/>
              </a:spcAft>
              <a:defRPr sz="1250">
                <a:solidFill>
                  <a:srgbClr val="374151"/>
                </a:solidFill>
              </a:defRPr>
            </a:pPr>
            <a:r>
              <a:t>Conclusão: proteína, sozinha, não é um bom preditor do teor de lipídeos neste conjunto de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8756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6E78"/>
                </a:solidFill>
              </a:defRPr>
            </a:pPr>
            <a:r>
              <a:t>Fonte: base TACO utilizada no projeto • dados e análises do seminário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endParaRPr lang="pt-BR" dirty="0"/>
          </a:p>
          <a:p>
            <a:pPr>
              <a:spcAft>
                <a:spcPts val="1200"/>
              </a:spcAft>
              <a:defRPr sz="1800"/>
            </a:pPr>
            <a:r>
              <a:rPr lang="pt-BR" dirty="0"/>
              <a:t>A análise dos dados da TACO mostrou grande variabilidade na composição nutricional dos alimentos, especialmente no teor de lipídeos, com presença de valores atípicos. A relação entre proteína e lipídeos foi positiva, porém fraca (r = 0,2799), enquanto a relação entre lipídeos e energia foi positiva e forte (r = 0,81). Assim, as análises estatísticas permitiram identificar a variabilidade dos alimentos e compreender as relações entre seus componentes nutricionais.</a:t>
            </a:r>
          </a:p>
          <a:p>
            <a:pPr>
              <a:spcAft>
                <a:spcPts val="1200"/>
              </a:spcAft>
              <a:defRPr sz="1800"/>
            </a:pPr>
            <a:endParaRPr lang="pt-BR" dirty="0"/>
          </a:p>
          <a:p>
            <a:pPr>
              <a:spcAft>
                <a:spcPts val="1200"/>
              </a:spcAft>
              <a:defRPr sz="1800"/>
            </a:pPr>
            <a:endParaRPr lang="pt-BR" dirty="0" smtClean="0"/>
          </a:p>
          <a:p>
            <a:pPr>
              <a:spcAft>
                <a:spcPts val="1200"/>
              </a:spcAft>
              <a:defRPr sz="18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Fonte: base TACO utilizada no 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1009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Karin</cp:lastModifiedBy>
  <cp:revision>3</cp:revision>
  <dcterms:created xsi:type="dcterms:W3CDTF">2013-01-27T09:14:16Z</dcterms:created>
  <dcterms:modified xsi:type="dcterms:W3CDTF">2026-08-31T19:24:57Z</dcterms:modified>
  <cp:category/>
</cp:coreProperties>
</file>